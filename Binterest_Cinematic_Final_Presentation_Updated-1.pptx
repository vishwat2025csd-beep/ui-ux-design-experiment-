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89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374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28600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8F8FA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804672"/>
            <a:ext cx="1051560" cy="41148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859536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1BA"/>
                </a:solidFill>
                <a:latin typeface="Aptos"/>
              </a:defRPr>
            </a:pPr>
            <a:r>
              <a:t>A focused visual platform for discovery, inspiration and personal collections.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0" y="329184"/>
            <a:ext cx="777240" cy="32004"/>
          </a:xfrm>
          <a:prstGeom prst="rect">
            <a:avLst/>
          </a:prstGeom>
          <a:solidFill>
            <a:srgbClr val="FF3746"/>
          </a:solidFill>
          <a:ln>
            <a:solidFill>
              <a:srgbClr val="FF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329184"/>
            <a:ext cx="320040" cy="32004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657600" cy="4434840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F3746"/>
                </a:solidFill>
                <a:latin typeface="Aptos"/>
              </a:defRPr>
            </a:pPr>
            <a:r>
              <a:t>Binterest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880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8F8FA"/>
                </a:solidFill>
                <a:latin typeface="Aptos"/>
              </a:defRPr>
            </a:pPr>
            <a:r>
              <a:t>Bringing visual inspiration</a:t>
            </a:r>
            <a:br/>
            <a:r>
              <a:t>into one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28803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1BA"/>
                </a:solidFill>
                <a:latin typeface="Aptos"/>
              </a:defRPr>
            </a:pPr>
            <a:r>
              <a:t>Binterest is a visual inspiration application designed to help users discover, explore and save wallpapers, aesthetic images and creative content through a simple, engaging interface.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230368"/>
            <a:ext cx="1874519" cy="45720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1481328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1481328"/>
            <a:ext cx="50292" cy="1828800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609344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591056"/>
            <a:ext cx="23774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VISUAL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84248"/>
            <a:ext cx="2359151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Explore wallpapers, aesthetics, photography and creative imagery.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81328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1481328"/>
            <a:ext cx="50292" cy="1828800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609344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591056"/>
            <a:ext cx="23774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PERSONALIZED EXPLORATION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984248"/>
            <a:ext cx="2359151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Surface content around user interests and search intent.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630168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3630168"/>
            <a:ext cx="50292" cy="1828800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758184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39896"/>
            <a:ext cx="23774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SAVE &amp; ORGANIZE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133088"/>
            <a:ext cx="2359151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Build a personal library of favorite visual content.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630168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3630168"/>
            <a:ext cx="50292" cy="1828800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758184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739896"/>
            <a:ext cx="23774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SIMPLE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133088"/>
            <a:ext cx="2359151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Clean navigation keeps browsing fast and intuitive.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559552"/>
            <a:ext cx="6720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8FA"/>
                </a:solidFill>
                <a:latin typeface="Aptos"/>
              </a:defRPr>
            </a:pPr>
            <a:r>
              <a:t>“Turning visual browsing into a personalized source of inspiration.”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EB1BA"/>
                </a:solidFill>
                <a:latin typeface="Aptos"/>
              </a:defRPr>
            </a:pPr>
            <a:r>
              <a:t>BINTEREST  •  VISUAL DISCOVERY &amp; INSPIRATION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AEB1BA"/>
                </a:solidFill>
                <a:latin typeface="Aptos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374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28600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8F8FA"/>
                </a:solidFill>
                <a:latin typeface="Aptos"/>
              </a:defRPr>
            </a:pPr>
            <a: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804672"/>
            <a:ext cx="1051560" cy="41148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859536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1BA"/>
                </a:solidFill>
                <a:latin typeface="Aptos"/>
              </a:defRPr>
            </a:pPr>
            <a:r>
              <a:t>Common limitations found in conventional visual-image and wallpaper platforms.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0" y="329184"/>
            <a:ext cx="777240" cy="32004"/>
          </a:xfrm>
          <a:prstGeom prst="rect">
            <a:avLst/>
          </a:prstGeom>
          <a:solidFill>
            <a:srgbClr val="FF3746"/>
          </a:solidFill>
          <a:ln>
            <a:solidFill>
              <a:srgbClr val="FF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329184"/>
            <a:ext cx="320040" cy="32004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3677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18488"/>
            <a:ext cx="2697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LIMITED PERSONALIZATION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11680"/>
            <a:ext cx="2679191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Feeds and recommendations may not always reflect individual interests.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0876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508760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3677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618488"/>
            <a:ext cx="2697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REPETITIVE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011680"/>
            <a:ext cx="2679191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Users can repeatedly encounter similar or duplicated visual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50876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1508760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63677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618488"/>
            <a:ext cx="2697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UNORGANIZED COLLECTIONS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011680"/>
            <a:ext cx="2679191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Managing saved wallpapers and inspiration can become difficult.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7472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474720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0273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584448"/>
            <a:ext cx="2697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GENERIC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977639"/>
            <a:ext cx="2679191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Discovery may be broad instead of closely aligned to user intent.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47472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0" y="3474720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60273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584448"/>
            <a:ext cx="2697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SCATTERED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977639"/>
            <a:ext cx="2679191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Different visual categories can feel fragmented across platforms.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347472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6760" y="3474720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60273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584448"/>
            <a:ext cx="2697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SEARCH EFFORT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977639"/>
            <a:ext cx="2679191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Finding the right image may require extensive browsing.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623560"/>
            <a:ext cx="10972800" cy="530352"/>
          </a:xfrm>
          <a:prstGeom prst="roundRect">
            <a:avLst>
              <a:gd name="adj" fmla="val 12000"/>
            </a:avLst>
          </a:prstGeom>
          <a:solidFill>
            <a:srgbClr val="230F12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87568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3746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47088" y="5660136"/>
            <a:ext cx="9326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1">
                <a:solidFill>
                  <a:srgbClr val="F8F8FA"/>
                </a:solidFill>
                <a:latin typeface="Aptos"/>
              </a:defRPr>
            </a:pPr>
            <a:r>
              <a:t>Image access is easy; meaningful, organized visual discovery is harder.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EB1BA"/>
                </a:solidFill>
                <a:latin typeface="Aptos"/>
              </a:defRPr>
            </a:pPr>
            <a:r>
              <a:t>BINTEREST  •  VISUAL DISCOVERY &amp; INSPIRATION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AEB1BA"/>
                </a:solidFill>
                <a:latin typeface="Aptos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374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28600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8F8FA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804672"/>
            <a:ext cx="1051560" cy="41148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859536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1BA"/>
                </a:solidFill>
                <a:latin typeface="Aptos"/>
              </a:defRPr>
            </a:pPr>
            <a:r>
              <a:t>Binterest brings discovery, personalization and organization into one visual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0" y="329184"/>
            <a:ext cx="777240" cy="32004"/>
          </a:xfrm>
          <a:prstGeom prst="rect">
            <a:avLst/>
          </a:prstGeom>
          <a:solidFill>
            <a:srgbClr val="FF3746"/>
          </a:solidFill>
          <a:ln>
            <a:solidFill>
              <a:srgbClr val="FF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329184"/>
            <a:ext cx="320040" cy="32004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971800" cy="4526280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3746"/>
                </a:solidFill>
                <a:latin typeface="Aptos"/>
              </a:defRPr>
            </a:pPr>
            <a:r>
              <a:t>BINTEREST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2423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8F8FA"/>
                </a:solidFill>
                <a:latin typeface="Aptos"/>
              </a:defRPr>
            </a:pPr>
            <a:r>
              <a:t>A modern visual</a:t>
            </a:r>
            <a:br/>
            <a:r>
              <a:t>inspiration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93008"/>
            <a:ext cx="24871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AEB1BA"/>
                </a:solidFill>
                <a:latin typeface="Aptos"/>
              </a:defRPr>
            </a:pPr>
            <a:r>
              <a:t>Discover  →  Explore  →  Save  →  Inspire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160520"/>
            <a:ext cx="2240280" cy="310896"/>
          </a:xfrm>
          <a:prstGeom prst="roundRect">
            <a:avLst>
              <a:gd name="adj" fmla="val 12000"/>
            </a:avLst>
          </a:prstGeom>
          <a:solidFill>
            <a:srgbClr val="202027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78807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8FA"/>
                </a:solidFill>
                <a:latin typeface="Aptos"/>
              </a:defRPr>
            </a:pPr>
            <a:r>
              <a:t>Search &amp; Discover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617720"/>
            <a:ext cx="2240280" cy="310896"/>
          </a:xfrm>
          <a:prstGeom prst="roundRect">
            <a:avLst>
              <a:gd name="adj" fmla="val 12000"/>
            </a:avLst>
          </a:prstGeom>
          <a:solidFill>
            <a:srgbClr val="202027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36007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8FA"/>
                </a:solidFill>
                <a:latin typeface="Aptos"/>
              </a:defRPr>
            </a:pPr>
            <a:r>
              <a:t>Curated Visual Feed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074920"/>
            <a:ext cx="2240280" cy="310896"/>
          </a:xfrm>
          <a:prstGeom prst="roundRect">
            <a:avLst>
              <a:gd name="adj" fmla="val 12000"/>
            </a:avLst>
          </a:prstGeom>
          <a:solidFill>
            <a:srgbClr val="202027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93207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8FA"/>
                </a:solidFill>
                <a:latin typeface="Aptos"/>
              </a:defRPr>
            </a:pPr>
            <a:r>
              <a:t>Personal Collections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417320"/>
            <a:ext cx="3703320" cy="129844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417320"/>
            <a:ext cx="50292" cy="129844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154533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527048"/>
            <a:ext cx="28346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Smart Search &amp;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920240"/>
            <a:ext cx="2816351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Find content by topic, theme and visual intent.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417320"/>
            <a:ext cx="3703320" cy="129844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0" y="1417320"/>
            <a:ext cx="50292" cy="129844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1545336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527048"/>
            <a:ext cx="28346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Personalized Feed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1920240"/>
            <a:ext cx="2816351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Create a more relevant browsing experience.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2953512"/>
            <a:ext cx="3703320" cy="129844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86200" y="2953512"/>
            <a:ext cx="50292" cy="129844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80" y="308152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063240"/>
            <a:ext cx="28346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Save &amp; Organize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456432"/>
            <a:ext cx="2816351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Keep favorites together in personal collections.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2953512"/>
            <a:ext cx="3703320" cy="129844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63840" y="2953512"/>
            <a:ext cx="50292" cy="129844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08152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063240"/>
            <a:ext cx="28346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Aesthetic 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456432"/>
            <a:ext cx="2816351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Explore themes, styles and visual moods.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4489704"/>
            <a:ext cx="3703320" cy="129844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86200" y="4489704"/>
            <a:ext cx="50292" cy="129844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4617720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599432"/>
            <a:ext cx="28346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Simple Interface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992624"/>
            <a:ext cx="2816351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Use a clean, familiar and intuitive navigation flow.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4489704"/>
            <a:ext cx="3703320" cy="1298448"/>
          </a:xfrm>
          <a:prstGeom prst="roundRect">
            <a:avLst>
              <a:gd name="adj" fmla="val 12000"/>
            </a:avLst>
          </a:prstGeom>
          <a:solidFill>
            <a:srgbClr val="18181E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63840" y="4489704"/>
            <a:ext cx="50292" cy="1298448"/>
          </a:xfrm>
          <a:prstGeom prst="roundRect">
            <a:avLst>
              <a:gd name="adj" fmla="val 12000"/>
            </a:avLst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4617720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B192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599432"/>
            <a:ext cx="283463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8FA"/>
                </a:solidFill>
                <a:latin typeface="Aptos"/>
              </a:defRPr>
            </a:pPr>
            <a:r>
              <a:t>Creative Inspiration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992624"/>
            <a:ext cx="2816351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AEB1BA"/>
                </a:solidFill>
                <a:latin typeface="Aptos"/>
              </a:defRPr>
            </a:pPr>
            <a:r>
              <a:t>Discover ideas for wallpapers, styles and visual concepts.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EB1BA"/>
                </a:solidFill>
                <a:latin typeface="Aptos"/>
              </a:defRPr>
            </a:pPr>
            <a:r>
              <a:t>BINTEREST  •  VISUAL DISCOVERY &amp; INSPIRATION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AEB1BA"/>
                </a:solidFill>
                <a:latin typeface="Aptos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374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28600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8F8FA"/>
                </a:solidFill>
                <a:latin typeface="Aptos"/>
              </a:defRPr>
            </a:pPr>
            <a:r>
              <a:t>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804672"/>
            <a:ext cx="1051560" cy="41148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859536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1BA"/>
                </a:solidFill>
                <a:latin typeface="Aptos"/>
              </a:defRPr>
            </a:pPr>
            <a:r>
              <a:t>Strengths of the proposed experience, with practical considerations.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0" y="329184"/>
            <a:ext cx="777240" cy="32004"/>
          </a:xfrm>
          <a:prstGeom prst="rect">
            <a:avLst/>
          </a:prstGeom>
          <a:solidFill>
            <a:srgbClr val="FF3746"/>
          </a:solidFill>
          <a:ln>
            <a:solidFill>
              <a:srgbClr val="FF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329184"/>
            <a:ext cx="320040" cy="32004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71616" y="1298448"/>
            <a:ext cx="22860" cy="4892040"/>
          </a:xfrm>
          <a:prstGeom prst="rect">
            <a:avLst/>
          </a:prstGeom>
          <a:solidFill>
            <a:srgbClr val="373840"/>
          </a:solidFill>
          <a:ln>
            <a:solidFill>
              <a:srgbClr val="37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120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3746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4892040" cy="4160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Personalized visual experience</a:t>
            </a:r>
          </a:p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Rich wallpaper &amp; aesthetic collection</a:t>
            </a:r>
          </a:p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Easy search and discovery</a:t>
            </a:r>
          </a:p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Save and organize favorites</a:t>
            </a:r>
          </a:p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Theme-based exploration</a:t>
            </a:r>
          </a:p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Clean and intuitive interface</a:t>
            </a:r>
          </a:p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Creative inspiration on demand</a:t>
            </a:r>
          </a:p>
          <a:p>
            <a:pPr>
              <a:spcAft>
                <a:spcPts val="700"/>
              </a:spcAft>
              <a:defRPr sz="1120">
                <a:solidFill>
                  <a:srgbClr val="F8F8FA"/>
                </a:solidFill>
                <a:latin typeface="Aptos"/>
              </a:defRPr>
            </a:pPr>
            <a:r>
              <a:t>•  Reduced search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8F8F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47088"/>
            <a:ext cx="4800600" cy="4160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120">
                <a:solidFill>
                  <a:srgbClr val="AEB1BA"/>
                </a:solidFill>
                <a:latin typeface="Aptos"/>
              </a:defRPr>
            </a:pPr>
            <a:r>
              <a:t>•  Internet connection may be required</a:t>
            </a:r>
          </a:p>
          <a:p>
            <a:pPr>
              <a:spcAft>
                <a:spcPts val="700"/>
              </a:spcAft>
              <a:defRPr sz="1120">
                <a:solidFill>
                  <a:srgbClr val="AEB1BA"/>
                </a:solidFill>
                <a:latin typeface="Aptos"/>
              </a:defRPr>
            </a:pPr>
            <a:r>
              <a:t>•  High-resolution images can use storage</a:t>
            </a:r>
          </a:p>
          <a:p>
            <a:pPr>
              <a:spcAft>
                <a:spcPts val="700"/>
              </a:spcAft>
              <a:defRPr sz="1120">
                <a:solidFill>
                  <a:srgbClr val="AEB1BA"/>
                </a:solidFill>
                <a:latin typeface="Aptos"/>
              </a:defRPr>
            </a:pPr>
            <a:r>
              <a:t>•  Content quality depends on the image library</a:t>
            </a:r>
          </a:p>
          <a:p>
            <a:pPr>
              <a:spcAft>
                <a:spcPts val="700"/>
              </a:spcAft>
              <a:defRPr sz="1120">
                <a:solidFill>
                  <a:srgbClr val="AEB1BA"/>
                </a:solidFill>
                <a:latin typeface="Aptos"/>
              </a:defRPr>
            </a:pPr>
            <a:r>
              <a:t>•  Recommendations may improve over time</a:t>
            </a:r>
          </a:p>
          <a:p>
            <a:pPr>
              <a:spcAft>
                <a:spcPts val="700"/>
              </a:spcAft>
              <a:defRPr sz="1120">
                <a:solidFill>
                  <a:srgbClr val="AEB1BA"/>
                </a:solidFill>
                <a:latin typeface="Aptos"/>
              </a:defRPr>
            </a:pPr>
            <a:r>
              <a:t>•  Copyright and licensing must be respected</a:t>
            </a:r>
          </a:p>
          <a:p>
            <a:pPr>
              <a:spcAft>
                <a:spcPts val="700"/>
              </a:spcAft>
              <a:defRPr sz="1120">
                <a:solidFill>
                  <a:srgbClr val="AEB1BA"/>
                </a:solidFill>
                <a:latin typeface="Aptos"/>
              </a:defRPr>
            </a:pPr>
            <a:r>
              <a:t>•  Content moderation may be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806440"/>
            <a:ext cx="10972800" cy="393192"/>
          </a:xfrm>
          <a:prstGeom prst="roundRect">
            <a:avLst>
              <a:gd name="adj" fmla="val 12000"/>
            </a:avLst>
          </a:prstGeom>
          <a:solidFill>
            <a:srgbClr val="230F12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43016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FF3746"/>
                </a:solidFill>
                <a:latin typeface="Aptos"/>
              </a:defRPr>
            </a:pPr>
            <a:r>
              <a:t>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815584"/>
            <a:ext cx="9646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8F8FA"/>
                </a:solidFill>
                <a:latin typeface="Aptos"/>
              </a:defRPr>
            </a:pPr>
            <a:r>
              <a:t>A stronger visual experience while keeping usability and practical constraints in 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EB1BA"/>
                </a:solidFill>
                <a:latin typeface="Aptos"/>
              </a:defRPr>
            </a:pPr>
            <a:r>
              <a:t>BINTEREST  •  VISUAL DISCOVERY &amp; INSPIRATION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AEB1BA"/>
                </a:solidFill>
                <a:latin typeface="Aptos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374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28600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8F8FA"/>
                </a:solidFill>
                <a:latin typeface="Aptos"/>
              </a:defRPr>
            </a:pPr>
            <a:r>
              <a:t>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804672"/>
            <a:ext cx="1051560" cy="41148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859536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1BA"/>
                </a:solidFill>
                <a:latin typeface="Aptos"/>
              </a:defRPr>
            </a:pPr>
            <a:r>
              <a:t>A cinematic showcase of the Binterest prototype.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0" y="329184"/>
            <a:ext cx="777240" cy="32004"/>
          </a:xfrm>
          <a:prstGeom prst="rect">
            <a:avLst/>
          </a:prstGeom>
          <a:solidFill>
            <a:srgbClr val="FF3746"/>
          </a:solidFill>
          <a:ln>
            <a:solidFill>
              <a:srgbClr val="FF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329184"/>
            <a:ext cx="320040" cy="32004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sleek_dark_high_contrast_promotional_ui_show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07008"/>
            <a:ext cx="11420856" cy="5138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EB1BA"/>
                </a:solidFill>
                <a:latin typeface="Aptos"/>
              </a:defRPr>
            </a:pPr>
            <a:r>
              <a:t>BINTEREST  •  VISUAL DISCOVERY &amp; INSPIRATION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AEB1BA"/>
                </a:solidFill>
                <a:latin typeface="Aptos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374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28600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8F8FA"/>
                </a:solidFill>
                <a:latin typeface="Aptos"/>
              </a:defRPr>
            </a:pPr>
            <a:r>
              <a:t>ACTUAL 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804672"/>
            <a:ext cx="1051560" cy="41148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859536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1BA"/>
                </a:solidFill>
                <a:latin typeface="Aptos"/>
              </a:defRPr>
            </a:pPr>
            <a:r>
              <a:t>Original prototype screens — shown without generated visual effects.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0" y="329184"/>
            <a:ext cx="777240" cy="32004"/>
          </a:xfrm>
          <a:prstGeom prst="rect">
            <a:avLst/>
          </a:prstGeom>
          <a:solidFill>
            <a:srgbClr val="FF3746"/>
          </a:solidFill>
          <a:ln>
            <a:solidFill>
              <a:srgbClr val="FF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329184"/>
            <a:ext cx="320040" cy="32004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89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01854"/>
            <a:ext cx="3783482" cy="3086395"/>
          </a:xfrm>
          <a:prstGeom prst="rect">
            <a:avLst/>
          </a:prstGeom>
        </p:spPr>
      </p:pic>
      <p:pic>
        <p:nvPicPr>
          <p:cNvPr id="9" name="Picture 8" descr="489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06" y="2357276"/>
            <a:ext cx="3783482" cy="2975551"/>
          </a:xfrm>
          <a:prstGeom prst="rect">
            <a:avLst/>
          </a:prstGeom>
        </p:spPr>
      </p:pic>
      <p:pic>
        <p:nvPicPr>
          <p:cNvPr id="10" name="Picture 9" descr="4897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892" y="2490289"/>
            <a:ext cx="3783482" cy="2709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EB1BA"/>
                </a:solidFill>
                <a:latin typeface="Aptos"/>
              </a:defRPr>
            </a:pPr>
            <a:r>
              <a:t>BINTEREST  •  VISUAL DISCOVERY &amp; INSPIRATION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AEB1BA"/>
                </a:solidFill>
                <a:latin typeface="Aptos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95928" y="658368"/>
            <a:ext cx="4169663" cy="4169663"/>
          </a:xfrm>
          <a:prstGeom prst="ellipse">
            <a:avLst/>
          </a:prstGeom>
          <a:solidFill>
            <a:srgbClr val="EB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79976" y="1042416"/>
            <a:ext cx="3401568" cy="3401568"/>
          </a:xfrm>
          <a:prstGeom prst="ellipse">
            <a:avLst/>
          </a:prstGeom>
          <a:solidFill>
            <a:srgbClr val="EB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09160" y="1371600"/>
            <a:ext cx="2743200" cy="2743200"/>
          </a:xfrm>
          <a:prstGeom prst="ellipse">
            <a:avLst/>
          </a:prstGeom>
          <a:solidFill>
            <a:srgbClr val="EB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83480" y="1645920"/>
            <a:ext cx="2194560" cy="2194560"/>
          </a:xfrm>
          <a:prstGeom prst="ellipse">
            <a:avLst/>
          </a:prstGeom>
          <a:solidFill>
            <a:srgbClr val="EB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interest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0876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3337560"/>
            <a:ext cx="853135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8F8F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96512"/>
            <a:ext cx="8531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3746"/>
                </a:solidFill>
                <a:latin typeface="Aptos"/>
              </a:defRPr>
            </a:pPr>
            <a:r>
              <a:t>BINTEREST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617720"/>
            <a:ext cx="8531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AEB1BA"/>
                </a:solidFill>
                <a:latin typeface="Aptos"/>
              </a:defRPr>
            </a:pPr>
            <a:r>
              <a:t>Visual discovery. Personal inspiration.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5285232"/>
            <a:ext cx="2057400" cy="45720"/>
          </a:xfrm>
          <a:prstGeom prst="rect">
            <a:avLst/>
          </a:prstGeom>
          <a:solidFill>
            <a:srgbClr val="EB192A"/>
          </a:solidFill>
          <a:ln>
            <a:solidFill>
              <a:srgbClr val="EB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559552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AEB1BA"/>
                </a:solidFill>
                <a:latin typeface="Aptos"/>
              </a:defRPr>
            </a:pPr>
            <a:r>
              <a:t>APPLICATION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AEB1BA"/>
                </a:solidFill>
                <a:latin typeface="Aptos"/>
              </a:defRPr>
            </a:pPr>
            <a:r>
              <a:t>BINTEREST  •  VISUAL DISCOVERY &amp; INSPIRATION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AEB1BA"/>
                </a:solidFill>
                <a:latin typeface="Aptos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